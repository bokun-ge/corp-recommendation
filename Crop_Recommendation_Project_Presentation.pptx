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08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9728" cy="4480560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6400800" cy="1508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Crop Recommendation
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88920"/>
            <a:ext cx="5212080" cy="58477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Aptos"/>
              </a:rPr>
              <a:t>Data + local knowledge = smarter and more sustainable farming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3977639"/>
            <a:ext cx="14173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D0A649"/>
                </a:solidFill>
              </a:rPr>
              <a:t>2,200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3977639"/>
            <a:ext cx="14173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D0A649"/>
                </a:solidFill>
              </a:rPr>
              <a:t>22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crop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9663" y="3977639"/>
            <a:ext cx="14173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D0A649"/>
                </a:solidFill>
              </a:rPr>
              <a:t>7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predictors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577840"/>
            <a:ext cx="42062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D8E5DE"/>
                </a:solidFill>
                <a:latin typeface="Aptos"/>
              </a:rPr>
              <a:t>Prepared by Bokun Ge
Machine Learning Project • June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868680"/>
            <a:ext cx="4892040" cy="5166360"/>
          </a:xfrm>
          <a:prstGeom prst="roundRect">
            <a:avLst/>
          </a:prstGeom>
          <a:solidFill>
            <a:srgbClr val="F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3273552"/>
            <a:ext cx="434340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00" b="1">
                <a:solidFill>
                  <a:srgbClr val="0B2127"/>
                </a:solidFill>
                <a:latin typeface="Aptos"/>
              </a:rPr>
              <a:t>Model interpretability + balanced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868680"/>
            <a:ext cx="4892040" cy="5166360"/>
          </a:xfrm>
          <a:prstGeom prst="roundRect">
            <a:avLst/>
          </a:prstGeom>
          <a:solidFill>
            <a:srgbClr val="F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67728" y="1170432"/>
            <a:ext cx="4251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000" b="1">
                <a:solidFill>
                  <a:srgbClr val="0B2127"/>
                </a:solidFill>
                <a:latin typeface="Aptos"/>
              </a:rPr>
              <a:t>Project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72768"/>
            <a:ext cx="44348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50" b="0">
                <a:solidFill>
                  <a:srgbClr val="5B6966"/>
                </a:solidFill>
                <a:latin typeface="Aptos"/>
              </a:rPr>
              <a:t>A high-level view of how the model supports crop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240280"/>
            <a:ext cx="41605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95160" y="2240280"/>
            <a:ext cx="91440" cy="804672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2048" y="2404872"/>
            <a:ext cx="3749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0B2127"/>
                </a:solidFill>
                <a:latin typeface="Aptos"/>
              </a:rPr>
              <a:t>1. Soil &amp; Climate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807208"/>
            <a:ext cx="37490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5B6966"/>
                </a:solidFill>
                <a:latin typeface="Aptos"/>
              </a:rPr>
              <a:t>N, P, K, temperature, humidity, pH, rainfall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32520" y="3127248"/>
            <a:ext cx="594360" cy="384048"/>
          </a:xfrm>
          <a:prstGeom prst="down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95160" y="3611880"/>
            <a:ext cx="41605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95160" y="3611880"/>
            <a:ext cx="91440" cy="804672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3749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0B2127"/>
                </a:solidFill>
                <a:latin typeface="Aptos"/>
              </a:rPr>
              <a:t>2. Machine Learning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178808"/>
            <a:ext cx="37490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5B6966"/>
                </a:solidFill>
                <a:latin typeface="Aptos"/>
              </a:rPr>
              <a:t>Compare classifiers and select the best-performing model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732520" y="4498848"/>
            <a:ext cx="594360" cy="384048"/>
          </a:xfrm>
          <a:prstGeom prst="down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95160" y="4983480"/>
            <a:ext cx="41605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95160" y="4983480"/>
            <a:ext cx="91440" cy="804672"/>
          </a:xfrm>
          <a:prstGeom prst="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5148072"/>
            <a:ext cx="3749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0B2127"/>
                </a:solidFill>
                <a:latin typeface="Aptos"/>
              </a:rPr>
              <a:t>3. Crop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5550408"/>
            <a:ext cx="374904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5B6966"/>
                </a:solidFill>
                <a:latin typeface="Aptos"/>
              </a:rPr>
              <a:t>Support better agricultural planning and food 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925312"/>
            <a:ext cx="44348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880" b="0">
                <a:solidFill>
                  <a:srgbClr val="78827E"/>
                </a:solidFill>
                <a:latin typeface="Aptos"/>
              </a:rPr>
              <a:t>Detailed model results and interpretation appear later in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 dirty="0">
                <a:solidFill>
                  <a:srgbClr val="5B6966"/>
                </a:solidFill>
                <a:latin typeface="Aptos"/>
              </a:rPr>
              <a:t>The project translates soil and climate data into practical crop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463040" cy="292608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97180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0" dirty="0">
                <a:solidFill>
                  <a:srgbClr val="24302F"/>
                </a:solidFill>
                <a:latin typeface="Aptos"/>
              </a:rPr>
              <a:t>Farmers need crop choices that match local soil and weather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5204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1463040" cy="292608"/>
          </a:xfrm>
          <a:prstGeom prst="round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67712"/>
            <a:ext cx="297180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0" dirty="0">
                <a:solidFill>
                  <a:srgbClr val="24302F"/>
                </a:solidFill>
                <a:latin typeface="Aptos"/>
              </a:rPr>
              <a:t>Train and compare supervised learning models using soil nutrients and climate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5204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1463040" cy="292608"/>
          </a:xfrm>
          <a:prstGeom prst="round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 dirty="0">
                <a:solidFill>
                  <a:srgbClr val="0B2127"/>
                </a:solidFill>
                <a:latin typeface="Aptos"/>
              </a:rPr>
              <a:t>Random Forest achieved the best overall performance and gives useful feature importance.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10378440" cy="777240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992624"/>
            <a:ext cx="9738360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ptos"/>
              </a:rPr>
              <a:t>Main takeaway: machine learning can support better agricultural planning when combined with local farming knowledge.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Problem Framing: Why Crop Choice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Crop selection is a high-impact decision because it affects yield, resource use, and food supply.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470916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Real-world challenge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The same crop does not perform equally well in every soil and climate.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Poor crop matching can waste water, fertilizer, labor, and time.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Climate variability makes agricultural planning more difficult.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Data-driven tools can provide an additional decision-support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3977639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525780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177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700" b="1">
                <a:solidFill>
                  <a:srgbClr val="0B2127"/>
                </a:solidFill>
                <a:latin typeface="Aptos"/>
              </a:rPr>
              <a:t>Decision-support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377440"/>
            <a:ext cx="4160520" cy="43891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468880"/>
            <a:ext cx="39776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Soil nutrients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063240"/>
            <a:ext cx="4160520" cy="438912"/>
          </a:xfrm>
          <a:prstGeom prst="round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154680"/>
            <a:ext cx="39776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Climate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749039"/>
            <a:ext cx="4160520" cy="438912"/>
          </a:xfrm>
          <a:prstGeom prst="round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840479"/>
            <a:ext cx="39776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Model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434840"/>
            <a:ext cx="4160520" cy="438912"/>
          </a:xfrm>
          <a:prstGeom prst="roundRect">
            <a:avLst/>
          </a:prstGeom>
          <a:solidFill>
            <a:srgbClr val="0B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4526279"/>
            <a:ext cx="39776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Crop recommendation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Dataset and Research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The dataset is balanced and suitable for a supervised multi-class classification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286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2,200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records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100 per crop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286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22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crop labels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balanced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2286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7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predictors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soil + climate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2286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80/20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split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train/test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542032"/>
            <a:ext cx="5431536" cy="22768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530352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846320"/>
            <a:ext cx="53035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0">
                <a:solidFill>
                  <a:srgbClr val="5B6966"/>
                </a:solidFill>
                <a:latin typeface="Aptos"/>
              </a:rPr>
              <a:t>Balanced class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514600"/>
            <a:ext cx="470916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 dirty="0">
                <a:solidFill>
                  <a:srgbClr val="0B2127"/>
                </a:solidFill>
              </a:rPr>
              <a:t>Predictors used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rPr dirty="0"/>
              <a:t>Soil nutrients: nitrogen, phosphorus, potassium.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rPr dirty="0"/>
              <a:t>Weather and environment: temperature, humidity, rainfall.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rPr dirty="0"/>
              <a:t>Soil condition: pH level.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rPr dirty="0"/>
              <a:t>Target: recommended crop label.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514600"/>
            <a:ext cx="82296" cy="2377440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5349240"/>
            <a:ext cx="45720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250" b="0">
                <a:solidFill>
                  <a:srgbClr val="5B6966"/>
                </a:solidFill>
                <a:latin typeface="Aptos"/>
              </a:rPr>
              <a:t>A balanced target helps avoid misleading accuracy caused by dominant classes.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Exploratory Analysis: What the Data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Before modeling, the project checked feature relationships and dataset suitability.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44752"/>
            <a:ext cx="4974336" cy="3968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48463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40680"/>
            <a:ext cx="4846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0">
                <a:solidFill>
                  <a:srgbClr val="5B6966"/>
                </a:solidFill>
                <a:latin typeface="Aptos"/>
              </a:rPr>
              <a:t>Correlation heatmap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00200"/>
            <a:ext cx="51663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Interpretation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Features describe complementary aspects of crop growth.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There is no single predictor that fully explains crop choice.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This supports using models that can capture interaction effects.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The dataset is clean enough for a standard machine learning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0200"/>
            <a:ext cx="82296" cy="3246120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4768" y="5257800"/>
            <a:ext cx="4892040" cy="502920"/>
          </a:xfrm>
          <a:prstGeom prst="roundRect">
            <a:avLst/>
          </a:prstGeom>
          <a:solidFill>
            <a:srgbClr val="E7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5394960"/>
            <a:ext cx="44805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280" b="1">
                <a:solidFill>
                  <a:srgbClr val="0B2127"/>
                </a:solidFill>
                <a:latin typeface="Aptos"/>
              </a:rPr>
              <a:t>EDA takeaway: the problem is appropriate for multi-class classification.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A structured process makes model comparison fair and easy to explain.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8136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487168"/>
            <a:ext cx="502920" cy="502920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50592"/>
            <a:ext cx="1417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1">
                <a:solidFill>
                  <a:srgbClr val="0B2127"/>
                </a:solidFill>
                <a:latin typeface="Aptos"/>
              </a:rP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43200"/>
            <a:ext cx="150876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69" b="0">
                <a:solidFill>
                  <a:srgbClr val="5B6966"/>
                </a:solidFill>
                <a:latin typeface="Aptos"/>
              </a:rPr>
              <a:t>class balance
summary statistics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95728" y="2615184"/>
            <a:ext cx="530352" cy="210312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99232" y="2487168"/>
            <a:ext cx="502920" cy="502920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450592"/>
            <a:ext cx="1417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1">
                <a:solidFill>
                  <a:srgbClr val="0B2127"/>
                </a:solidFill>
                <a:latin typeface="Aptos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43200"/>
            <a:ext cx="150876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69" b="0">
                <a:solidFill>
                  <a:srgbClr val="5B6966"/>
                </a:solidFill>
                <a:latin typeface="Aptos"/>
              </a:rPr>
              <a:t>missing values
duplicates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0560" y="2615184"/>
            <a:ext cx="530352" cy="210312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84064" y="2487168"/>
            <a:ext cx="502920" cy="502920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9864" y="2450592"/>
            <a:ext cx="1417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1">
                <a:solidFill>
                  <a:srgbClr val="0B2127"/>
                </a:solidFill>
                <a:latin typeface="Aptos"/>
              </a:rP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2743200"/>
            <a:ext cx="150876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69" b="0">
                <a:solidFill>
                  <a:srgbClr val="5B6966"/>
                </a:solidFill>
                <a:latin typeface="Aptos"/>
              </a:rPr>
              <a:t>stratified
train/test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65392" y="2615184"/>
            <a:ext cx="530352" cy="210312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68896" y="2487168"/>
            <a:ext cx="502920" cy="502920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2450592"/>
            <a:ext cx="1417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1">
                <a:solidFill>
                  <a:srgbClr val="0B2127"/>
                </a:solidFill>
                <a:latin typeface="Aptos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743200"/>
            <a:ext cx="150876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69" b="0">
                <a:solidFill>
                  <a:srgbClr val="5B6966"/>
                </a:solidFill>
                <a:latin typeface="Aptos"/>
              </a:rPr>
              <a:t>DT, RF,
KNN, SVM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50224" y="2615184"/>
            <a:ext cx="530352" cy="210312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53728" y="2487168"/>
            <a:ext cx="502920" cy="502920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450592"/>
            <a:ext cx="1417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1">
                <a:solidFill>
                  <a:srgbClr val="0B2127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743200"/>
            <a:ext cx="150876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69" b="0">
                <a:solidFill>
                  <a:srgbClr val="5B6966"/>
                </a:solidFill>
                <a:latin typeface="Aptos"/>
              </a:rPr>
              <a:t>accuracy, F1,
confusion matrix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00600"/>
            <a:ext cx="4892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Technical note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KNN and SVM used scaling because distance-based models are sensitive to feature units.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800600"/>
            <a:ext cx="82296" cy="868680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09360" y="4800600"/>
            <a:ext cx="4892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Evaluation note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All models were compared on the same test set using classification metrics.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800600"/>
            <a:ext cx="82296" cy="868680"/>
          </a:xfrm>
          <a:prstGeom prst="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Model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The project compared simple, ensemble, distance-based, and margin-based classifiers.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9728" cy="1417320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0B2127"/>
                </a:solidFill>
                <a:latin typeface="Aptos"/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4434840" cy="5303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5B6966"/>
                </a:solidFill>
                <a:latin typeface="Aptos"/>
              </a:rPr>
              <a:t>Interpretable baseline
Can overfit without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09728" cy="1417320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78308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0B2127"/>
                </a:solidFill>
                <a:latin typeface="Aptos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212848"/>
            <a:ext cx="4434840" cy="5303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5B6966"/>
                </a:solidFill>
                <a:latin typeface="Aptos"/>
              </a:rPr>
              <a:t>Ensemble of many trees
Strong accuracy + importance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120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9728" cy="1417320"/>
          </a:xfrm>
          <a:prstGeom prst="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06908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0B2127"/>
                </a:solidFill>
                <a:latin typeface="Aptos"/>
              </a:rPr>
              <a:t>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498848"/>
            <a:ext cx="4434840" cy="5303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5B6966"/>
                </a:solidFill>
                <a:latin typeface="Aptos"/>
              </a:rPr>
              <a:t>Distance-based voting
Needs feature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120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109728" cy="1417320"/>
          </a:xfrm>
          <a:prstGeom prst="rect">
            <a:avLst/>
          </a:prstGeom>
          <a:solidFill>
            <a:srgbClr val="0B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069080"/>
            <a:ext cx="2560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0B2127"/>
                </a:solidFill>
                <a:latin typeface="Aptos"/>
              </a:rPr>
              <a:t>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498848"/>
            <a:ext cx="4434840" cy="53035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5B6966"/>
                </a:solidFill>
                <a:latin typeface="Aptos"/>
              </a:rPr>
              <a:t>Margin-based classifier
Strong with scaled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Performance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Random Forest produced the strongest test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248656" cy="31912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12064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572000"/>
            <a:ext cx="51206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0">
                <a:solidFill>
                  <a:srgbClr val="5B6966"/>
                </a:solidFill>
                <a:latin typeface="Aptos"/>
              </a:rPr>
              <a:t>Accuracy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0.9955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Best accuracy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0876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D0A649"/>
                </a:solidFill>
              </a:rPr>
              <a:t>0.9955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Best F1-score</a:t>
            </a:r>
          </a:p>
          <a:p>
            <a:pPr algn="ctr"/>
            <a:r>
              <a:rPr sz="850">
                <a:solidFill>
                  <a:srgbClr val="5B6966"/>
                </a:solidFill>
              </a:rPr>
              <a:t>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71800"/>
            <a:ext cx="480060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081528"/>
            <a:ext cx="201168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0B2127"/>
                </a:solidFill>
                <a:latin typeface="Aptos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081528"/>
            <a:ext cx="91440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0.9955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081528"/>
            <a:ext cx="82296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0.9955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4800600" cy="438912"/>
          </a:xfrm>
          <a:prstGeom prst="roundRect">
            <a:avLst/>
          </a:prstGeom>
          <a:solidFill>
            <a:srgbClr val="E7F2EB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201168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0B2127"/>
                </a:solidFill>
                <a:latin typeface="Aptos"/>
              </a:rPr>
              <a:t>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584448"/>
            <a:ext cx="91440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584448"/>
            <a:ext cx="82296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0.9887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77639"/>
            <a:ext cx="480060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087368"/>
            <a:ext cx="201168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0B2127"/>
                </a:solidFill>
                <a:latin typeface="Aptos"/>
              </a:rP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087368"/>
            <a:ext cx="91440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0.9795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4087368"/>
            <a:ext cx="82296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0.9794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480559"/>
            <a:ext cx="4800600" cy="438912"/>
          </a:xfrm>
          <a:prstGeom prst="roundRect">
            <a:avLst/>
          </a:prstGeom>
          <a:solidFill>
            <a:srgbClr val="E7F2EB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590288"/>
            <a:ext cx="201168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0B2127"/>
                </a:solidFill>
                <a:latin typeface="Aptos"/>
              </a:rPr>
              <a:t>KNN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590288"/>
            <a:ext cx="91440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0.9795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4590288"/>
            <a:ext cx="82296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50" b="0">
                <a:solidFill>
                  <a:srgbClr val="24302F"/>
                </a:solidFill>
                <a:latin typeface="Aptos"/>
              </a:rPr>
              <a:t>0.9793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697480"/>
            <a:ext cx="9144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1">
                <a:solidFill>
                  <a:srgbClr val="5B6966"/>
                </a:solidFill>
                <a:latin typeface="Aptos"/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697480"/>
            <a:ext cx="82296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1">
                <a:solidFill>
                  <a:srgbClr val="5B6966"/>
                </a:solidFill>
                <a:latin typeface="Aptos"/>
              </a:rPr>
              <a:t>F1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394960"/>
            <a:ext cx="4800600" cy="43891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5513832"/>
            <a:ext cx="443484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Selected final model: 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Why Random Forest Is the Final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The final model balances high accuracy with interpretability.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44752"/>
            <a:ext cx="5111496" cy="3374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498348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846320"/>
            <a:ext cx="49834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0">
                <a:solidFill>
                  <a:srgbClr val="5B6966"/>
                </a:solidFill>
                <a:latin typeface="Aptos"/>
              </a:rPr>
              <a:t>Feature importance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489204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Selection rationale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Best overall model performance.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Captures non-linear relationships between soil, climate, and crop type.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Less likely to overfit than a single decision tree.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Feature importance helps explain model behavior to non-technical audiences.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82296" cy="3246120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5349240"/>
            <a:ext cx="9966960" cy="502920"/>
          </a:xfrm>
          <a:prstGeom prst="roundRect">
            <a:avLst/>
          </a:prstGeom>
          <a:solidFill>
            <a:srgbClr val="E7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5486400"/>
            <a:ext cx="9509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300" b="1">
                <a:solidFill>
                  <a:srgbClr val="0B2127"/>
                </a:solidFill>
                <a:latin typeface="Aptos"/>
              </a:rPr>
              <a:t>For a class presentation, Random Forest is strong because it is both accurate and explainable.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Validation: Where the Model Performs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The confusion matrix confirms that most predictions are on the correct diagonal.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020056" cy="4197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489204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77840"/>
            <a:ext cx="48920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0">
                <a:solidFill>
                  <a:srgbClr val="5B6966"/>
                </a:solidFill>
                <a:latin typeface="Aptos"/>
              </a:rPr>
              <a:t>Final model confusion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21945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0.9955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508760"/>
            <a:ext cx="21945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0.9957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651760"/>
            <a:ext cx="21945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0.9955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651760"/>
            <a:ext cx="21945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300" b="1">
                <a:solidFill>
                  <a:srgbClr val="185341"/>
                </a:solidFill>
              </a:rPr>
              <a:t>0.9955</a:t>
            </a:r>
          </a:p>
          <a:p>
            <a:pPr algn="ctr"/>
            <a:r>
              <a:rPr sz="1019" b="1">
                <a:solidFill>
                  <a:srgbClr val="0B2127"/>
                </a:solidFill>
              </a:rPr>
              <a:t>F1-score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977639"/>
            <a:ext cx="48463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What this means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Most crop classes are predicted correctly.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Few visible errors appear outside the main diagonal.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Real-world testing is still needed before farm deployment.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977639"/>
            <a:ext cx="82296" cy="1280160"/>
          </a:xfrm>
          <a:prstGeom prst="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Example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The model converts field conditions into a crop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97180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55648"/>
            <a:ext cx="1463040" cy="292608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INPUT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40280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N = 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87752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P =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35224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K =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82696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Temperature = 20.87°C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630168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Humidity = 82.00%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977639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pH = 6.50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325112"/>
            <a:ext cx="23317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20" b="0">
                <a:solidFill>
                  <a:srgbClr val="24302F"/>
                </a:solidFill>
                <a:latin typeface="Aptos"/>
              </a:rPr>
              <a:t>• Rainfall = 202.93 mm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3360" y="2971800"/>
            <a:ext cx="914400" cy="320040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57800" y="2057400"/>
            <a:ext cx="2057400" cy="2514600"/>
          </a:xfrm>
          <a:prstGeom prst="roundRect">
            <a:avLst/>
          </a:prstGeom>
          <a:solidFill>
            <a:srgbClr val="E7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58968" y="2606040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0B2127"/>
                </a:solidFill>
                <a:latin typeface="Aptos"/>
              </a:rPr>
              <a:t>Tuned
Random Forest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35240" y="2971800"/>
            <a:ext cx="914400" cy="320040"/>
          </a:xfrm>
          <a:prstGeom prst="rightArrow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1508760"/>
            <a:ext cx="26060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0" y="1755648"/>
            <a:ext cx="1463040" cy="292608"/>
          </a:xfrm>
          <a:prstGeom prst="round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23160"/>
            <a:ext cx="21031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400" b="1">
                <a:solidFill>
                  <a:srgbClr val="5B6966"/>
                </a:solidFill>
                <a:latin typeface="Aptos"/>
              </a:rPr>
              <a:t>Recommended Crop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71800"/>
            <a:ext cx="21031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800" b="1">
                <a:solidFill>
                  <a:srgbClr val="185341"/>
                </a:solidFill>
                <a:latin typeface="Aptos"/>
              </a:rPr>
              <a:t>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840480"/>
            <a:ext cx="21488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150" b="0">
                <a:solidFill>
                  <a:srgbClr val="24302F"/>
                </a:solidFill>
                <a:latin typeface="Aptos"/>
              </a:rPr>
              <a:t>This output is easy to understand and can support field-level planning.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51560" cy="54864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0B2127"/>
                </a:solidFill>
                <a:latin typeface="Aptos"/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5156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5B6966"/>
                </a:solidFill>
                <a:latin typeface="Aptos"/>
              </a:rPr>
              <a:t>A strong classroom model should still be connected to real-world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9204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Limitations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Kaggle data may not fully represent local farm conditions.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The model does not include price, crop demand, labor cost, or irrigation cost.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Environmental conditions can change over time and across seasons.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Agricultural expert review is still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3429000"/>
          </a:xfrm>
          <a:prstGeom prst="rect">
            <a:avLst/>
          </a:prstGeom>
          <a:solidFill>
            <a:srgbClr val="B76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489204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01168" rtlCol="0" anchor="ctr"/>
          <a:lstStyle/>
          <a:p>
            <a:pPr algn="ctr"/>
            <a:r>
              <a:rPr sz="1550" b="1">
                <a:solidFill>
                  <a:srgbClr val="0B2127"/>
                </a:solidFill>
              </a:rPr>
              <a:t>Next steps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Validate with local field data.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Add market and economic variables.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Collect more seasonal observations.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Build a simple user interface for farmers or advisors.</a:t>
            </a:r>
          </a:p>
          <a:p>
            <a:pPr>
              <a:spcBef>
                <a:spcPts val="500"/>
              </a:spcBef>
              <a:defRPr sz="1280">
                <a:solidFill>
                  <a:srgbClr val="24302F"/>
                </a:solidFill>
              </a:defRPr>
            </a:pPr>
            <a:r>
              <a:t>Combine model output with local expert knowledge.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82296" cy="3429000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43000" y="5349240"/>
            <a:ext cx="9921240" cy="475488"/>
          </a:xfrm>
          <a:prstGeom prst="roundRect">
            <a:avLst/>
          </a:prstGeom>
          <a:solidFill>
            <a:srgbClr val="0B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5477256"/>
            <a:ext cx="941832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Prototype → Local validation → Expanded variables → Farmer-facing decision support 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960120"/>
            <a:ext cx="109728" cy="4434840"/>
          </a:xfrm>
          <a:prstGeom prst="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143000"/>
            <a:ext cx="978408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40280"/>
            <a:ext cx="886968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E2EEE8"/>
                </a:solidFill>
                <a:latin typeface="Aptos"/>
              </a:rPr>
              <a:t>Machine learning can help transform soil and climate data into practical crop recommendations, supporting better agricultural planning and the broader goal of food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069080"/>
            <a:ext cx="9738360" cy="685800"/>
          </a:xfrm>
          <a:prstGeom prst="roundRect">
            <a:avLst/>
          </a:prstGeom>
          <a:solidFill>
            <a:srgbClr val="D0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4261104"/>
            <a:ext cx="9281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Data + local knowledge = smarter and more sustainable farming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806440"/>
            <a:ext cx="9144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Thank you — 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0972"/>
          </a:xfrm>
          <a:prstGeom prst="rect">
            <a:avLst/>
          </a:prstGeom>
          <a:solidFill>
            <a:srgbClr val="DE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83096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5B6966"/>
                </a:solidFill>
                <a:latin typeface="Aptos"/>
              </a:rPr>
              <a:t>Bokun Ge • Crop Recommendation ML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5B696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1069</Words>
  <Application>Microsoft Office PowerPoint</Application>
  <PresentationFormat>宽屏</PresentationFormat>
  <Paragraphs>219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Bokun Ge</cp:lastModifiedBy>
  <cp:revision>3</cp:revision>
  <dcterms:created xsi:type="dcterms:W3CDTF">2013-01-27T09:14:16Z</dcterms:created>
  <dcterms:modified xsi:type="dcterms:W3CDTF">2026-06-13T06:54:30Z</dcterms:modified>
  <cp:category/>
</cp:coreProperties>
</file>